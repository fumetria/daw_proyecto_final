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08A"/>
    <a:srgbClr val="FEFCE8"/>
    <a:srgbClr val="5EA5FC"/>
    <a:srgbClr val="DDECFF"/>
    <a:srgbClr val="E1FBEA"/>
    <a:srgbClr val="45E980"/>
    <a:srgbClr val="C0F6D2"/>
    <a:srgbClr val="22C55E"/>
    <a:srgbClr val="16A34A"/>
    <a:srgbClr val="EF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7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59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4556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4394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8007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0944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5964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2860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128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26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325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477985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809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1341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2920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490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6234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75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  <p:sldLayoutId id="2147483739" r:id="rId15"/>
    <p:sldLayoutId id="2147483740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3C0B9C-7A5A-4914-A21E-DFEF33363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r>
              <a:rPr lang="es-ES" sz="5800" dirty="0" err="1"/>
              <a:t>Bsness</a:t>
            </a:r>
            <a:r>
              <a:rPr lang="es-ES" sz="5800" b="1" dirty="0" err="1"/>
              <a:t>App</a:t>
            </a:r>
            <a:endParaRPr lang="es-ES" sz="5800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F0A07CD-4E27-8840-2085-7DC82646B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s-ES" dirty="0"/>
              <a:t>FU JUN FU LIN</a:t>
            </a:r>
          </a:p>
          <a:p>
            <a:pPr>
              <a:lnSpc>
                <a:spcPct val="120000"/>
              </a:lnSpc>
            </a:pPr>
            <a:r>
              <a:rPr lang="es-ES" dirty="0"/>
              <a:t>2DAW semipresencial 2025-26</a:t>
            </a: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7B5AD249-6A04-69FE-5EED-E7F9F76039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9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7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6A4CA0-5F87-1167-FB77-A48341DB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241708"/>
            <a:ext cx="4070143" cy="1839433"/>
          </a:xfrm>
        </p:spPr>
        <p:txBody>
          <a:bodyPr>
            <a:normAutofit/>
          </a:bodyPr>
          <a:lstStyle/>
          <a:p>
            <a:r>
              <a:rPr lang="es-ES" dirty="0"/>
              <a:t>¿Qué es </a:t>
            </a:r>
            <a:r>
              <a:rPr lang="es-ES" dirty="0" err="1"/>
              <a:t>BsnessApp</a:t>
            </a:r>
            <a:r>
              <a:rPr lang="es-ES" dirty="0"/>
              <a:t>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76716F-C215-4224-0886-B01BB315C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548272"/>
            <a:ext cx="4907280" cy="110548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Aplicación SaaS para gestión de TPV desde cualquier lugar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61723BA-1C2B-312B-DFF7-E523B867F2AB}"/>
              </a:ext>
            </a:extLst>
          </p:cNvPr>
          <p:cNvCxnSpPr>
            <a:cxnSpLocks/>
          </p:cNvCxnSpPr>
          <p:nvPr/>
        </p:nvCxnSpPr>
        <p:spPr>
          <a:xfrm>
            <a:off x="640079" y="2548272"/>
            <a:ext cx="0" cy="662360"/>
          </a:xfrm>
          <a:prstGeom prst="line">
            <a:avLst/>
          </a:prstGeom>
          <a:ln w="63500">
            <a:solidFill>
              <a:srgbClr val="3B82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87E94698-8D2A-3547-E314-53906385C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440" y="738615"/>
            <a:ext cx="6756399" cy="3337710"/>
          </a:xfrm>
          <a:prstGeom prst="rect">
            <a:avLst/>
          </a:prstGeom>
          <a:ln w="19050">
            <a:solidFill>
              <a:srgbClr val="78716C"/>
            </a:solidFill>
          </a:ln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2472EE3-5C88-521A-22CE-6AF765D36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856" y="4488764"/>
            <a:ext cx="980135" cy="9801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F97AF996-FEBC-A0C4-F4F3-FDA2406F5C20}"/>
              </a:ext>
            </a:extLst>
          </p:cNvPr>
          <p:cNvSpPr txBox="1"/>
          <p:nvPr/>
        </p:nvSpPr>
        <p:spPr>
          <a:xfrm>
            <a:off x="937203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Gestión completa de TPV en la nube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A9592AFF-A18F-F37F-234B-1425403DC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4828" y="4645714"/>
            <a:ext cx="823185" cy="823185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C8F4493-BDDD-3BE5-C53E-26C74EA4AF89}"/>
              </a:ext>
            </a:extLst>
          </p:cNvPr>
          <p:cNvSpPr txBox="1"/>
          <p:nvPr/>
        </p:nvSpPr>
        <p:spPr>
          <a:xfrm>
            <a:off x="4493231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Panel de estadísticas y ventas en tiempo real</a:t>
            </a: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4C8F2D1-9D73-4906-D141-456F2377CB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254" y="4645714"/>
            <a:ext cx="823185" cy="823185"/>
          </a:xfrm>
          <a:prstGeom prst="rect">
            <a:avLst/>
          </a:prstGeom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D81DAF03-9339-9EE4-B5F2-89F8B43E9F13}"/>
              </a:ext>
            </a:extLst>
          </p:cNvPr>
          <p:cNvSpPr txBox="1"/>
          <p:nvPr/>
        </p:nvSpPr>
        <p:spPr>
          <a:xfrm>
            <a:off x="8049259" y="5468900"/>
            <a:ext cx="320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 Integración con hardware POS local</a:t>
            </a:r>
          </a:p>
        </p:txBody>
      </p:sp>
    </p:spTree>
    <p:extLst>
      <p:ext uri="{BB962C8B-B14F-4D97-AF65-F5344CB8AC3E}">
        <p14:creationId xmlns:p14="http://schemas.microsoft.com/office/powerpoint/2010/main" val="978506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2C91F5-EA0E-BFD5-9E44-82101F7E9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74321"/>
            <a:ext cx="10890929" cy="1097280"/>
          </a:xfrm>
        </p:spPr>
        <p:txBody>
          <a:bodyPr/>
          <a:lstStyle/>
          <a:p>
            <a:r>
              <a:rPr lang="es-ES" dirty="0"/>
              <a:t>El problema que resuelve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A7A6BE-C2E6-BC38-C855-4241FA1154A5}"/>
              </a:ext>
            </a:extLst>
          </p:cNvPr>
          <p:cNvSpPr txBox="1"/>
          <p:nvPr/>
        </p:nvSpPr>
        <p:spPr>
          <a:xfrm>
            <a:off x="859390" y="2468881"/>
            <a:ext cx="3960000" cy="1800000"/>
          </a:xfrm>
          <a:prstGeom prst="rect">
            <a:avLst/>
          </a:prstGeom>
          <a:solidFill>
            <a:srgbClr val="FEF2F2"/>
          </a:solidFill>
          <a:ln w="38100">
            <a:solidFill>
              <a:srgbClr val="FECAC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❌Sin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TPV físico caro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Sin datos en la nube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Difícil de gestionar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C4F83E-17D7-B288-6C84-5AC0CBC4FFDD}"/>
              </a:ext>
            </a:extLst>
          </p:cNvPr>
          <p:cNvSpPr txBox="1"/>
          <p:nvPr/>
        </p:nvSpPr>
        <p:spPr>
          <a:xfrm>
            <a:off x="7017736" y="2468881"/>
            <a:ext cx="3960000" cy="1800000"/>
          </a:xfrm>
          <a:prstGeom prst="rect">
            <a:avLst/>
          </a:prstGeom>
          <a:solidFill>
            <a:srgbClr val="F0FDF4"/>
          </a:solidFill>
          <a:ln w="38100">
            <a:solidFill>
              <a:srgbClr val="BBF7D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✅Con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Acceso 100% online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Estadísticas en tiempo real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Gestión sencilla de la actividad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9544ADB6-95DC-69CF-9742-3A228897B177}"/>
              </a:ext>
            </a:extLst>
          </p:cNvPr>
          <p:cNvCxnSpPr/>
          <p:nvPr/>
        </p:nvCxnSpPr>
        <p:spPr>
          <a:xfrm>
            <a:off x="5153891" y="3368881"/>
            <a:ext cx="1402773" cy="0"/>
          </a:xfrm>
          <a:prstGeom prst="straightConnector1">
            <a:avLst/>
          </a:prstGeom>
          <a:ln w="38100">
            <a:solidFill>
              <a:srgbClr val="78716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96AD3AE3-9FB5-75F1-7A1C-A638ADC10B25}"/>
              </a:ext>
            </a:extLst>
          </p:cNvPr>
          <p:cNvSpPr txBox="1"/>
          <p:nvPr/>
        </p:nvSpPr>
        <p:spPr>
          <a:xfrm>
            <a:off x="495877" y="5366161"/>
            <a:ext cx="10718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Caso de uso: TPV nueva cafetería del IES </a:t>
            </a:r>
            <a:r>
              <a:rPr lang="es-ES" sz="2400" b="1" dirty="0" err="1"/>
              <a:t>L’Estació</a:t>
            </a:r>
            <a:endParaRPr lang="es-ES" sz="2400" b="1" dirty="0"/>
          </a:p>
        </p:txBody>
      </p:sp>
    </p:spTree>
    <p:extLst>
      <p:ext uri="{BB962C8B-B14F-4D97-AF65-F5344CB8AC3E}">
        <p14:creationId xmlns:p14="http://schemas.microsoft.com/office/powerpoint/2010/main" val="421750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3396C-ADD2-4875-DA65-80E75297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17601"/>
            <a:ext cx="10890929" cy="1097280"/>
          </a:xfrm>
        </p:spPr>
        <p:txBody>
          <a:bodyPr/>
          <a:lstStyle/>
          <a:p>
            <a:r>
              <a:rPr lang="es-ES" dirty="0"/>
              <a:t>Stack tecnológico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8E448A03-2ACB-4515-EAAB-6ECEA21ECE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7520" y="2214881"/>
            <a:ext cx="1507807" cy="1507807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E8544E88-EE23-7F5A-53B5-B325951B4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42095" y="2214880"/>
            <a:ext cx="1507807" cy="1507807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F0CDD9D0-3C91-4250-32B2-008450B954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6670" y="2214880"/>
            <a:ext cx="1507807" cy="1507807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79F03176-D497-EF40-3942-9F917DA04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7520" y="4646463"/>
            <a:ext cx="1507807" cy="1507807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6BB1B764-63AF-5458-A3BF-3D62534C53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42095" y="4643120"/>
            <a:ext cx="1507807" cy="1507807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8F50C2EB-96A5-99ED-A356-F58F5399C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36670" y="4643120"/>
            <a:ext cx="1507807" cy="150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64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4F802-8D91-943F-5C1D-D5F551B7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Arquitectura del sistema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B09E4D7-60AD-CA64-0775-967B20737924}"/>
              </a:ext>
            </a:extLst>
          </p:cNvPr>
          <p:cNvSpPr txBox="1"/>
          <p:nvPr/>
        </p:nvSpPr>
        <p:spPr>
          <a:xfrm>
            <a:off x="1304269" y="2323651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Navegador</a:t>
            </a:r>
          </a:p>
          <a:p>
            <a:pPr algn="ctr"/>
            <a:r>
              <a:rPr lang="es-ES" dirty="0"/>
              <a:t>Cliente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43AC271-8B97-0CC9-C3B2-60A6A7F2489B}"/>
              </a:ext>
            </a:extLst>
          </p:cNvPr>
          <p:cNvSpPr txBox="1"/>
          <p:nvPr/>
        </p:nvSpPr>
        <p:spPr>
          <a:xfrm>
            <a:off x="4466216" y="2323651"/>
            <a:ext cx="3259567" cy="646331"/>
          </a:xfrm>
          <a:prstGeom prst="rect">
            <a:avLst/>
          </a:prstGeom>
          <a:solidFill>
            <a:srgbClr val="EFF6FF"/>
          </a:solidFill>
          <a:ln w="28575">
            <a:solidFill>
              <a:srgbClr val="BFDBFE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Servidor Next.js</a:t>
            </a:r>
          </a:p>
          <a:p>
            <a:pPr algn="ctr"/>
            <a:r>
              <a:rPr lang="es-ES" dirty="0"/>
              <a:t>Frontend + Backend (SSR)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618C52-FA9C-BB9E-2794-AE01FCBDB3C6}"/>
              </a:ext>
            </a:extLst>
          </p:cNvPr>
          <p:cNvSpPr txBox="1"/>
          <p:nvPr/>
        </p:nvSpPr>
        <p:spPr>
          <a:xfrm>
            <a:off x="8967354" y="2323652"/>
            <a:ext cx="2317173" cy="646331"/>
          </a:xfrm>
          <a:prstGeom prst="rect">
            <a:avLst/>
          </a:prstGeom>
          <a:solidFill>
            <a:srgbClr val="EFF6FF"/>
          </a:solidFill>
          <a:ln w="28575">
            <a:solidFill>
              <a:srgbClr val="BFDBFE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/>
            </a:lvl1pPr>
          </a:lstStyle>
          <a:p>
            <a:r>
              <a:rPr lang="es-ES" dirty="0"/>
              <a:t>Base de Datos</a:t>
            </a:r>
          </a:p>
          <a:p>
            <a:r>
              <a:rPr lang="es-ES" dirty="0" err="1"/>
              <a:t>NeonDB</a:t>
            </a:r>
            <a:r>
              <a:rPr lang="es-ES" dirty="0"/>
              <a:t> + </a:t>
            </a:r>
            <a:r>
              <a:rPr lang="es-ES" dirty="0" err="1"/>
              <a:t>Postgres</a:t>
            </a:r>
            <a:endParaRPr lang="es-ES" dirty="0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3C16CBAD-DD6E-9F88-4AB2-068F96BB93C3}"/>
              </a:ext>
            </a:extLst>
          </p:cNvPr>
          <p:cNvCxnSpPr>
            <a:cxnSpLocks/>
          </p:cNvCxnSpPr>
          <p:nvPr/>
        </p:nvCxnSpPr>
        <p:spPr>
          <a:xfrm>
            <a:off x="3237345" y="2504209"/>
            <a:ext cx="1228871" cy="0"/>
          </a:xfrm>
          <a:prstGeom prst="straightConnector1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1A0DA3D-38FD-6460-94ED-0C14D6FC3C40}"/>
              </a:ext>
            </a:extLst>
          </p:cNvPr>
          <p:cNvCxnSpPr/>
          <p:nvPr/>
        </p:nvCxnSpPr>
        <p:spPr>
          <a:xfrm flipH="1">
            <a:off x="3237345" y="2847109"/>
            <a:ext cx="12288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F0F16B4-A0A7-6086-6494-DE69AB4385FF}"/>
              </a:ext>
            </a:extLst>
          </p:cNvPr>
          <p:cNvCxnSpPr>
            <a:cxnSpLocks/>
          </p:cNvCxnSpPr>
          <p:nvPr/>
        </p:nvCxnSpPr>
        <p:spPr>
          <a:xfrm>
            <a:off x="7738483" y="2504209"/>
            <a:ext cx="1228871" cy="0"/>
          </a:xfrm>
          <a:prstGeom prst="straightConnector1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89BFAF5-22D5-DDC9-4AA6-1709D17F9F06}"/>
              </a:ext>
            </a:extLst>
          </p:cNvPr>
          <p:cNvCxnSpPr/>
          <p:nvPr/>
        </p:nvCxnSpPr>
        <p:spPr>
          <a:xfrm flipH="1">
            <a:off x="7725783" y="2847109"/>
            <a:ext cx="12288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DB45EAB-9F14-463E-425D-A741702F6B40}"/>
              </a:ext>
            </a:extLst>
          </p:cNvPr>
          <p:cNvSpPr txBox="1"/>
          <p:nvPr/>
        </p:nvSpPr>
        <p:spPr>
          <a:xfrm>
            <a:off x="5129461" y="3702179"/>
            <a:ext cx="1933076" cy="369332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 err="1"/>
              <a:t>Printer</a:t>
            </a:r>
            <a:r>
              <a:rPr lang="es-ES" dirty="0"/>
              <a:t> Server</a:t>
            </a: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F298634F-577E-204C-F372-1FE59E555781}"/>
              </a:ext>
            </a:extLst>
          </p:cNvPr>
          <p:cNvCxnSpPr>
            <a:stCxn id="5" idx="2"/>
            <a:endCxn id="14" idx="0"/>
          </p:cNvCxnSpPr>
          <p:nvPr/>
        </p:nvCxnSpPr>
        <p:spPr>
          <a:xfrm flipH="1">
            <a:off x="6095999" y="2969982"/>
            <a:ext cx="1" cy="732197"/>
          </a:xfrm>
          <a:prstGeom prst="straightConnector1">
            <a:avLst/>
          </a:prstGeom>
          <a:ln w="28575">
            <a:solidFill>
              <a:srgbClr val="7871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1ED5692-36A5-32C3-787E-67CE3C49A677}"/>
              </a:ext>
            </a:extLst>
          </p:cNvPr>
          <p:cNvSpPr txBox="1"/>
          <p:nvPr/>
        </p:nvSpPr>
        <p:spPr>
          <a:xfrm>
            <a:off x="6192982" y="3231573"/>
            <a:ext cx="96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rgbClr val="78716C"/>
                </a:solidFill>
              </a:rPr>
              <a:t>HTTP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2CB5C31-D134-9E77-6E39-C6E73A6102BA}"/>
              </a:ext>
            </a:extLst>
          </p:cNvPr>
          <p:cNvSpPr txBox="1"/>
          <p:nvPr/>
        </p:nvSpPr>
        <p:spPr>
          <a:xfrm>
            <a:off x="3534023" y="4803707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Impresora térmica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DB3E9C-31C2-AD3A-3D41-03AD9B39A2A2}"/>
              </a:ext>
            </a:extLst>
          </p:cNvPr>
          <p:cNvSpPr txBox="1"/>
          <p:nvPr/>
        </p:nvSpPr>
        <p:spPr>
          <a:xfrm>
            <a:off x="6771945" y="4803707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Cajón monedas</a:t>
            </a:r>
          </a:p>
        </p:txBody>
      </p:sp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A5472820-A747-CA39-8791-4695B7AA21A5}"/>
              </a:ext>
            </a:extLst>
          </p:cNvPr>
          <p:cNvCxnSpPr>
            <a:cxnSpLocks/>
          </p:cNvCxnSpPr>
          <p:nvPr/>
        </p:nvCxnSpPr>
        <p:spPr>
          <a:xfrm rot="5400000">
            <a:off x="4914339" y="3622717"/>
            <a:ext cx="732197" cy="1629783"/>
          </a:xfrm>
          <a:prstGeom prst="bentConnector3">
            <a:avLst>
              <a:gd name="adj1" fmla="val 50000"/>
            </a:avLst>
          </a:prstGeom>
          <a:ln>
            <a:solidFill>
              <a:srgbClr val="7871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: angular 26">
            <a:extLst>
              <a:ext uri="{FF2B5EF4-FFF2-40B4-BE49-F238E27FC236}">
                <a16:creationId xmlns:a16="http://schemas.microsoft.com/office/drawing/2014/main" id="{DCC98548-E54A-CA79-4680-A89BCCC381E7}"/>
              </a:ext>
            </a:extLst>
          </p:cNvPr>
          <p:cNvCxnSpPr>
            <a:stCxn id="19" idx="0"/>
            <a:endCxn id="14" idx="2"/>
          </p:cNvCxnSpPr>
          <p:nvPr/>
        </p:nvCxnSpPr>
        <p:spPr>
          <a:xfrm rot="16200000" flipV="1">
            <a:off x="6551143" y="3616367"/>
            <a:ext cx="732196" cy="1642484"/>
          </a:xfrm>
          <a:prstGeom prst="bentConnector3">
            <a:avLst/>
          </a:prstGeom>
          <a:ln>
            <a:solidFill>
              <a:srgbClr val="7871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848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A197C1-3472-9C6C-C344-40D067C46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Funcionalidades clave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5C9287-6E23-BEB9-B240-386087F72A7E}"/>
              </a:ext>
            </a:extLst>
          </p:cNvPr>
          <p:cNvSpPr txBox="1"/>
          <p:nvPr/>
        </p:nvSpPr>
        <p:spPr>
          <a:xfrm>
            <a:off x="802640" y="1505152"/>
            <a:ext cx="3251200" cy="2031325"/>
          </a:xfrm>
          <a:prstGeom prst="rect">
            <a:avLst/>
          </a:prstGeom>
          <a:solidFill>
            <a:srgbClr val="EFF6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TPV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Crear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Cobrar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Imprimir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Email al cliente con ticket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75AD68C-4B70-5CDE-7B27-4DCD68727347}"/>
              </a:ext>
            </a:extLst>
          </p:cNvPr>
          <p:cNvSpPr txBox="1"/>
          <p:nvPr/>
        </p:nvSpPr>
        <p:spPr>
          <a:xfrm>
            <a:off x="4470400" y="1505151"/>
            <a:ext cx="3251200" cy="2031325"/>
          </a:xfrm>
          <a:prstGeom prst="rect">
            <a:avLst/>
          </a:prstGeom>
          <a:solidFill>
            <a:srgbClr val="F0FDF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DASHBOARD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Estadísticas de venta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Gráficos por meses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Informes fin día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Mantenimiento artículos</a:t>
            </a:r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9DDB19E-DB00-6585-C474-687F635A49F5}"/>
              </a:ext>
            </a:extLst>
          </p:cNvPr>
          <p:cNvSpPr txBox="1"/>
          <p:nvPr/>
        </p:nvSpPr>
        <p:spPr>
          <a:xfrm>
            <a:off x="8138160" y="1505151"/>
            <a:ext cx="3251200" cy="2031325"/>
          </a:xfrm>
          <a:prstGeom prst="rect">
            <a:avLst/>
          </a:prstGeom>
          <a:solidFill>
            <a:srgbClr val="FAF5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ROLES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Admin</a:t>
            </a:r>
            <a:r>
              <a:rPr lang="es-ES" dirty="0"/>
              <a:t> vs Usuario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Rutas propias para cada tipo de usuario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C34E57-A3AD-29B2-3A56-C70C75839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20" y="3677920"/>
            <a:ext cx="6191888" cy="295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40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66D483-EF53-62F0-A07B-08C1678B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Retos técnicos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CCEBB0F-6FF1-8D6E-A5BB-884EE2F462EB}"/>
              </a:ext>
            </a:extLst>
          </p:cNvPr>
          <p:cNvSpPr txBox="1"/>
          <p:nvPr/>
        </p:nvSpPr>
        <p:spPr>
          <a:xfrm>
            <a:off x="2184400" y="1656080"/>
            <a:ext cx="8666480" cy="1200329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Hardware local desde una app en la nube 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la impresora no es accesible desde </a:t>
            </a:r>
            <a:r>
              <a:rPr lang="es-ES" dirty="0" err="1"/>
              <a:t>Vercel</a:t>
            </a:r>
            <a:r>
              <a:rPr lang="es-ES" dirty="0"/>
              <a:t> directamente.                 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</a:t>
            </a:r>
            <a:r>
              <a:rPr lang="es-ES" dirty="0" err="1"/>
              <a:t>Printer</a:t>
            </a:r>
            <a:r>
              <a:rPr lang="es-ES" dirty="0"/>
              <a:t> Server en Node.js local que recibe peticiones HTTP desde Next.js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3C49DC6-83F1-678B-FAC0-5283FE423941}"/>
              </a:ext>
            </a:extLst>
          </p:cNvPr>
          <p:cNvCxnSpPr/>
          <p:nvPr/>
        </p:nvCxnSpPr>
        <p:spPr>
          <a:xfrm>
            <a:off x="2184400" y="1656080"/>
            <a:ext cx="0" cy="1200329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4B5FD2F7-EB2B-AFB5-766B-FEC7E83BD74E}"/>
              </a:ext>
            </a:extLst>
          </p:cNvPr>
          <p:cNvSpPr txBox="1"/>
          <p:nvPr/>
        </p:nvSpPr>
        <p:spPr>
          <a:xfrm>
            <a:off x="2184400" y="3108960"/>
            <a:ext cx="8666480" cy="1200329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Generación y envío de PDF al vuelo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generar un PDF del ticket y enviarlo por email en el momento del cobro.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React-PDF + </a:t>
            </a:r>
            <a:r>
              <a:rPr lang="es-ES" dirty="0" err="1"/>
              <a:t>Nodemailer</a:t>
            </a:r>
            <a:r>
              <a:rPr lang="es-ES" dirty="0"/>
              <a:t> 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BBEDDAA-7BD8-8250-3900-0C4194D85D21}"/>
              </a:ext>
            </a:extLst>
          </p:cNvPr>
          <p:cNvCxnSpPr/>
          <p:nvPr/>
        </p:nvCxnSpPr>
        <p:spPr>
          <a:xfrm>
            <a:off x="2184400" y="3108960"/>
            <a:ext cx="0" cy="1200329"/>
          </a:xfrm>
          <a:prstGeom prst="line">
            <a:avLst/>
          </a:prstGeom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544CA0A-0CCA-4B97-AAC7-2008B7D95B65}"/>
              </a:ext>
            </a:extLst>
          </p:cNvPr>
          <p:cNvSpPr txBox="1"/>
          <p:nvPr/>
        </p:nvSpPr>
        <p:spPr>
          <a:xfrm>
            <a:off x="2184400" y="4561840"/>
            <a:ext cx="8666480" cy="923330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Autenticación y control de acceso por rol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 cada rol debe ver solo su interfaz y acceder solo a sus rutas.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</a:t>
            </a:r>
            <a:r>
              <a:rPr lang="en-US" dirty="0" err="1"/>
              <a:t>NextAuth</a:t>
            </a:r>
            <a:r>
              <a:rPr lang="en-US" dirty="0"/>
              <a:t> con middleware de </a:t>
            </a:r>
            <a:r>
              <a:rPr lang="en-US" dirty="0" err="1"/>
              <a:t>rutas</a:t>
            </a:r>
            <a:endParaRPr lang="es-ES" dirty="0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84211D8-21F1-5CCD-2B8C-388682969171}"/>
              </a:ext>
            </a:extLst>
          </p:cNvPr>
          <p:cNvCxnSpPr>
            <a:cxnSpLocks/>
          </p:cNvCxnSpPr>
          <p:nvPr/>
        </p:nvCxnSpPr>
        <p:spPr>
          <a:xfrm>
            <a:off x="2194560" y="4561840"/>
            <a:ext cx="0" cy="923330"/>
          </a:xfrm>
          <a:prstGeom prst="line">
            <a:avLst/>
          </a:prstGeom>
          <a:ln w="38100">
            <a:solidFill>
              <a:srgbClr val="22C55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779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434B60-06E8-5CD4-FE2C-351E93E5B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9485" y="633803"/>
            <a:ext cx="8911687" cy="1280890"/>
          </a:xfrm>
        </p:spPr>
        <p:txBody>
          <a:bodyPr/>
          <a:lstStyle/>
          <a:p>
            <a:r>
              <a:rPr lang="es-ES" dirty="0"/>
              <a:t>Conclusiones y </a:t>
            </a:r>
            <a:r>
              <a:rPr lang="es-ES" dirty="0" err="1"/>
              <a:t>roadmap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E8C11A6-D809-ED74-8552-295E767EE02D}"/>
              </a:ext>
            </a:extLst>
          </p:cNvPr>
          <p:cNvSpPr txBox="1"/>
          <p:nvPr/>
        </p:nvSpPr>
        <p:spPr>
          <a:xfrm>
            <a:off x="2131475" y="1435081"/>
            <a:ext cx="2997200" cy="3416320"/>
          </a:xfrm>
          <a:prstGeom prst="rect">
            <a:avLst/>
          </a:prstGeom>
          <a:solidFill>
            <a:srgbClr val="E1FBEA"/>
          </a:solidFill>
          <a:ln>
            <a:solidFill>
              <a:srgbClr val="45E980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Completado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TPV funcional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 err="1"/>
              <a:t>Dashboard</a:t>
            </a:r>
            <a:r>
              <a:rPr lang="es-ES" dirty="0"/>
              <a:t> y estadísticas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Roles y autenticación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Email con PDF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Informes de ingresos pdf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Impresora térmica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Modo oscuro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0072965-2364-4762-89F0-A1456EB00FF3}"/>
              </a:ext>
            </a:extLst>
          </p:cNvPr>
          <p:cNvSpPr txBox="1"/>
          <p:nvPr/>
        </p:nvSpPr>
        <p:spPr>
          <a:xfrm>
            <a:off x="6601875" y="1435081"/>
            <a:ext cx="2997200" cy="3416320"/>
          </a:xfrm>
          <a:prstGeom prst="rect">
            <a:avLst/>
          </a:prstGeom>
          <a:solidFill>
            <a:srgbClr val="DDECFF"/>
          </a:solidFill>
          <a:ln>
            <a:solidFill>
              <a:srgbClr val="5EA5FC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Próximas actualizaciones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Módulo gastos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Menú suplementos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Interfaz </a:t>
            </a:r>
            <a:r>
              <a:rPr lang="es-ES" dirty="0" err="1"/>
              <a:t>mobile</a:t>
            </a:r>
            <a:r>
              <a:rPr lang="es-ES" dirty="0"/>
              <a:t> responsive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Mejorar servidor de impresión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Mejorar seguridad en servidor de impresión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Accesibilidad</a:t>
            </a:r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53E27A2-660B-8F2E-6FA1-9B559F447101}"/>
              </a:ext>
            </a:extLst>
          </p:cNvPr>
          <p:cNvSpPr txBox="1"/>
          <p:nvPr/>
        </p:nvSpPr>
        <p:spPr>
          <a:xfrm>
            <a:off x="2131475" y="5174794"/>
            <a:ext cx="7467600" cy="1477328"/>
          </a:xfrm>
          <a:prstGeom prst="rect">
            <a:avLst/>
          </a:prstGeom>
          <a:solidFill>
            <a:srgbClr val="FEFCE8"/>
          </a:solidFill>
          <a:ln>
            <a:solidFill>
              <a:srgbClr val="FEF08A"/>
            </a:solidFill>
          </a:ln>
        </p:spPr>
        <p:txBody>
          <a:bodyPr wrap="square" rtlCol="0">
            <a:spAutoFit/>
          </a:bodyPr>
          <a:lstStyle/>
          <a:p>
            <a:r>
              <a:rPr lang="es-ES" b="1" dirty="0"/>
              <a:t>Lo que aprendí</a:t>
            </a:r>
          </a:p>
          <a:p>
            <a:endParaRPr lang="es-ES" dirty="0"/>
          </a:p>
          <a:p>
            <a:r>
              <a:rPr lang="es-ES" dirty="0"/>
              <a:t>Integrar hardware local con una app en la nube me ha significado un gran reto para aplicar los conocimientos que he adquirido en este ciclo.</a:t>
            </a:r>
          </a:p>
        </p:txBody>
      </p:sp>
    </p:spTree>
    <p:extLst>
      <p:ext uri="{BB962C8B-B14F-4D97-AF65-F5344CB8AC3E}">
        <p14:creationId xmlns:p14="http://schemas.microsoft.com/office/powerpoint/2010/main" val="717725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865A7D-A78E-2C94-5E44-D14B42762577}"/>
              </a:ext>
            </a:extLst>
          </p:cNvPr>
          <p:cNvSpPr txBox="1"/>
          <p:nvPr/>
        </p:nvSpPr>
        <p:spPr>
          <a:xfrm>
            <a:off x="1757680" y="1930400"/>
            <a:ext cx="94691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/>
              <a:t>Gracias por su atención</a:t>
            </a:r>
          </a:p>
        </p:txBody>
      </p:sp>
    </p:spTree>
    <p:extLst>
      <p:ext uri="{BB962C8B-B14F-4D97-AF65-F5344CB8AC3E}">
        <p14:creationId xmlns:p14="http://schemas.microsoft.com/office/powerpoint/2010/main" val="152498127"/>
      </p:ext>
    </p:extLst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4D3AEB1-4C6D-4FED-9AEA-3F99A8EDED8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d0ac6e7-a930-46ed-bfe3-36d0f088144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150</TotalTime>
  <Words>327</Words>
  <Application>Microsoft Office PowerPoint</Application>
  <PresentationFormat>Panorámica</PresentationFormat>
  <Paragraphs>81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Century Gothic</vt:lpstr>
      <vt:lpstr>Wingdings</vt:lpstr>
      <vt:lpstr>Wingdings 3</vt:lpstr>
      <vt:lpstr>Espiral</vt:lpstr>
      <vt:lpstr>BsnessApp</vt:lpstr>
      <vt:lpstr>¿Qué es BsnessApp?</vt:lpstr>
      <vt:lpstr>El problema que resuelve</vt:lpstr>
      <vt:lpstr>Stack tecnológico</vt:lpstr>
      <vt:lpstr>Arquitectura del sistema</vt:lpstr>
      <vt:lpstr>Funcionalidades clave</vt:lpstr>
      <vt:lpstr>Retos técnicos</vt:lpstr>
      <vt:lpstr>Conclusiones y roadmap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 Jun Fu Lin</dc:creator>
  <cp:lastModifiedBy>Fu Jun Fu Lin</cp:lastModifiedBy>
  <cp:revision>6</cp:revision>
  <dcterms:created xsi:type="dcterms:W3CDTF">2026-05-11T19:33:40Z</dcterms:created>
  <dcterms:modified xsi:type="dcterms:W3CDTF">2026-05-14T15:08:11Z</dcterms:modified>
</cp:coreProperties>
</file>